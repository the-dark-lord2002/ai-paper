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Arial"/>
              </a:rPr>
              <a:t>واژگونی: گزارش‌های پیدا‌شده از ۱۵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Capsizing / Listing</c:v>
                </c:pt>
              </c:strCache>
            </c:strRef>
          </c:tx>
          <c:spPr>
            <a:solidFill>
              <a:srgbClr val="0F7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TF-IDF + SVM</c:v>
                  </c:pt>
                  <c:pt idx="1">
                    <c:v>BERT</c:v>
                  </c:pt>
                  <c:pt idx="2">
                    <c:v>BERT + BiLSTM</c:v>
                  </c:pt>
                  <c:pt idx="3">
                    <c:v>+ Attention</c:v>
                  </c:pt>
                  <c:pt idx="4">
                    <c:v>+ Attention + wce</c:v>
                  </c:pt>
                  <c:pt idx="5">
                    <c:v>+ Attention + focal</c:v>
                  </c:pt>
                  <c:pt idx="6">
                    <c:v>+ Attention + cb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12</c:v>
                </c:pt>
                <c:pt idx="2">
                  <c:v>11</c:v>
                </c:pt>
                <c:pt idx="3">
                  <c:v>10.5</c:v>
                </c:pt>
                <c:pt idx="4">
                  <c:v>11.5</c:v>
                </c:pt>
                <c:pt idx="5">
                  <c:v>11.5</c:v>
                </c:pt>
                <c:pt idx="6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b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سلام. این گزارش دو کاری را که جلسه‌ی قبل خواسته شد نشان می‌دهد: نتیجه‌ی کامل آزمایش‌ها و بررسی oversampling.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سه عدد اصلی: خط مبنای کلاسیک ۰٫۸۸۵، بازتولید مقاله‌ی مرجع ۰٫۹۰۱، و روش پیشنهادی ۰٫۹۱۴. نکته‌ی مهم این است که بهبود اصلی از تابع زیان وزن‌دار آمد، نه از لایه‌های اضافه.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برخلاف مقاله‌ی مرجع، بین هر دو پیکربندی متوالی فقط یک جزء عوض شده و بقیه‌ی تنظیمات کاملاً یکسان است. پس می‌دانیم هر بهبود دقیقاً از کجا آمده.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وزن attention نشان می‌دهد مدل کجا را نگاه کرده، نه لزوماً چرا تصمیم گرفته. این محدودیت شناخته‌شده است (Jain و Wallace، ۲۰۱۹).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C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دانشگاه صنعتی شاهرود — دانشکده مهندسی کامپیوتر</a:t>
            </a:r>
            <a:endParaRPr lang="fa-IR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دسته‌بندی گزارش‌های حوادث دریایی با مدل‌های زبانی</a:t>
            </a:r>
            <a:endParaRPr lang="fa-IR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800" dirty="0">
                <a:solidFill>
                  <a:srgbClr val="7F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 پیشرفت: نتایج کامل آزمایش‌ها و بررسی oversampling</a:t>
            </a:r>
            <a:endParaRPr lang="fa-IR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C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مهدی عرب   |   استاد راهنما: دکتر هدی مشایخی   |   مهر ۱۴۰۵</a:t>
            </a:r>
            <a:endParaRPr lang="fa-I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پیام اصلی در یک نگاه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80760" y="10972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80760" y="1188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08076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مبنای کلاسیک</a:t>
            </a:r>
            <a:endParaRPr lang="fa-I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80760" y="2258568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SVM</a:t>
            </a:r>
            <a:endParaRPr lang="fa-IR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188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بازتولید مقاله‌ی مرجع</a:t>
            </a:r>
            <a:endParaRPr lang="fa-IR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258568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+ BiLSTM</a:t>
            </a:r>
            <a:endParaRPr lang="fa-IR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0972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188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36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روش پیشنهادی</a:t>
            </a:r>
            <a:endParaRPr lang="fa-I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258568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BiLSTM + Attention + wce</a:t>
            </a:r>
            <a:endParaRPr lang="fa-I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روی مجموعه‌ی آزمون (۸۶۵ گزارش)، میانگین ۲ بذر</a:t>
            </a:r>
            <a:endParaRPr lang="fa-IR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54680"/>
            <a:ext cx="78638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5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بیشترین بهبود از تابع زیان وزن‌دار (wce) آمد: +0.009 نسبت به همان مدل با ce</a:t>
            </a:r>
            <a:endParaRPr lang="fa-IR" sz="15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5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BiLSTM (+0.004) و attention (+0.004) با تنظیمات یکسان بهبودی بیش از نوسان بذرها ندادند</a:t>
            </a:r>
            <a:endParaRPr lang="fa-IR" sz="15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5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سقف حدود ۰٫۹۱ بیشتر از ابهام برچسب گزارش‌های چندرویدادی می‌آید تا ضعف مدل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وظایف جلسه‌ی قبل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663440" y="11430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9204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۱. نتیجه و گزارش کامل</a:t>
            </a:r>
            <a:endParaRPr lang="fa-IR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89204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5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اجرای آموزش BERT و خط مبنای SVM</a:t>
            </a:r>
            <a:endParaRPr lang="fa-IR" sz="15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5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۶ پیکربندی × ۲ بذر، تنظیمات یکسان</a:t>
            </a:r>
            <a:endParaRPr lang="fa-IR" sz="15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5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جدول‌ها، تحلیل attention و تحلیل خطا</a:t>
            </a:r>
            <a:endParaRPr lang="fa-IR" sz="15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5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 کامل Word پیوست است</a:t>
            </a:r>
            <a:endParaRPr lang="fa-IR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rgbClr val="E36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۲. بررسی oversampling</a:t>
            </a:r>
            <a:endParaRPr lang="fa-IR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5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روی SVM و روی روش پیشنهادی</a:t>
            </a:r>
            <a:endParaRPr lang="fa-IR" sz="15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5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فقط داده‌ی آموزش؛ آزمون دست‌نخورده</a:t>
            </a:r>
            <a:endParaRPr lang="fa-IR" sz="15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5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مقایسه با بدون اقدام و با wce</a:t>
            </a:r>
            <a:endParaRPr lang="fa-IR" sz="15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5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پیاده‌سازی شد؛ اجرا در جریان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دادگان: ۹ رده، به‌شدت نامتوازن</a:t>
            </a:r>
            <a:endParaRPr lang="en-US" sz="2600" dirty="0"/>
          </a:p>
        </p:txBody>
      </p:sp>
      <p:pic>
        <p:nvPicPr>
          <p:cNvPr id="3" name="Image 0" descr="/home/user/AI-Paper/maib-thesis/reports/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937760" cy="2743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1188720"/>
            <a:ext cx="320040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5,768 گزارش عمومی MAIB، برچسب «Main Event L1»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۲ رده با کمتر از ۲۰ گزارش حذف شد (۳ و ۲ گزارش)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رده، 5,762 گزارش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نسبت عدم توازن: 16.8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تقسیم ثابت ۷۰/۱۵/۱۵: 4,033 / 864 / 865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میانه‌ی طول گزارش: 59 واژه</a:t>
            </a:r>
            <a:endParaRPr lang="fa-I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طراحی آزمایش: در هر گام فقط یک جزء تغییر می‌کند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205472" y="13258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1371600"/>
            <a:ext cx="148132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SVM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205472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مبنا (۲-الف)</a:t>
            </a:r>
            <a:endParaRPr lang="fa-IR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986016" y="16459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22976" y="13258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22976" y="1371600"/>
            <a:ext cx="148132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522976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۲-ب</a:t>
            </a:r>
            <a:endParaRPr lang="fa-IR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16459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13258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1371600"/>
            <a:ext cx="148132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BiLSTM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مقاله‌ی مرجع (۲-ج)</a:t>
            </a:r>
            <a:endParaRPr lang="fa-IR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16459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57984" y="13258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FCE7DB"/>
          </a:solidFill>
          <a:ln w="12700">
            <a:solidFill>
              <a:srgbClr val="FCE7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57984" y="1371600"/>
            <a:ext cx="148132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6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Attention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157984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روش پیشنهادی (۳)</a:t>
            </a:r>
            <a:endParaRPr lang="fa-IR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938528" y="16459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" y="13258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" y="1371600"/>
            <a:ext cx="148132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wce / focal / cb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oversampling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" y="2450592"/>
            <a:ext cx="148132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نامتوازنی (۴)</a:t>
            </a:r>
            <a:endParaRPr lang="fa-IR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971800"/>
            <a:ext cx="7863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تنظیمات آموزش برای همه‌ی مدل‌ها کاملاً یکسان (دسته‌ی مؤثر ۳۲، نرخ یادگیری، ۵ epoch)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بهترین epoch فقط با Macro-F1 اعتبارسنجی؛ مجموعه‌ی آزمون فقط یک بار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پیکربندی با ۲ بذر؛ گزارش میانگین ± انحراف معیار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معیار اصلی: Macro-F1 و بازیابی هر رده؛ دقت کلی فقط برای مقایسه</a:t>
            </a:r>
            <a:endParaRPr lang="fa-I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نتایج اصلی روی مجموعه‌ی آزمون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645920"/>
                <a:gridCol w="640080"/>
                <a:gridCol w="2651760"/>
              </a:tblGrid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دقت کلی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بازیابی رده‌های بحرانی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بذر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پیکربندی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TF-IDF + SVM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0.927 ± 0.005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0.873 ± 0.008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0.898 ± 0.007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0.928 ± 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0.851 ± 0.040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0.901 ± 0.004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 + BiLSTM (مرجع)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0.931 ± 0.002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0.845 ± 0.016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 ± 0.004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Attention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0.935 ± 0.003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0.868 ± 0.016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0.914 ± 0.006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Attention + wce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0.930 ± 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0.858 ± 0.012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 ± 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Attention + focal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0.935 ± 0.004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0.910 ± 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Attention + cb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رده‌های بحرانی: آتش‌سوزی، واژگونی، آب‌گرفتگی. ردیف رنگی: بهترین پیکربندی.</a:t>
            </a:r>
            <a:endParaRPr lang="fa-I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بیشترین بهبود از تابع زیان وزن‌دار آمد</a:t>
            </a:r>
            <a:endParaRPr lang="en-US" sz="2600" dirty="0"/>
          </a:p>
        </p:txBody>
      </p:sp>
      <p:pic>
        <p:nvPicPr>
          <p:cNvPr id="3" name="Image 0" descr="out/fig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33965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نقطه: میانگین ۲ بذر؛ خط: ± یک انحراف معیار</a:t>
            </a:r>
            <a:endParaRPr lang="fa-I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RQ1: attention در کل بهبود معناداری نداد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0" y="10972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20640" y="1188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212080" y="2057400"/>
            <a:ext cx="3383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تغییر Macro-F1 نسبت به BiLSTM</a:t>
            </a:r>
            <a:endParaRPr lang="fa-IR" sz="1300" dirty="0"/>
          </a:p>
          <a:p>
            <a:pPr rtl="1" algn="ctr" indent="0" marL="0">
              <a:buNone/>
            </a:pPr>
            <a:r>
              <a:rPr lang="fa-IR" alt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(انحراف معیار بذرها حدود 0.004)</a:t>
            </a:r>
            <a:endParaRPr lang="fa-IR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4805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 هر دو بذر، روی رده‌های «برخورد» بهتر بود:</a:t>
            </a:r>
            <a:endParaRPr lang="fa-IR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480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2286000"/>
              </a:tblGrid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Attention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BiLSTM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رده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 (61)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Collision (49)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Grounding / Stranding (84)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2880360"/>
            <a:ext cx="4480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تعداد گزارش درست‌تشخیص‌داده‌شده (میانگین بذرها)</a:t>
            </a:r>
            <a:endParaRPr lang="fa-IR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این رده‌ها معنای نزدیک دارند و تشخیصشان به یک واژه‌ی کلیدی وسط متن وابسته است: با فرضیه‌ی پیشنهاده سازگار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ولی اندازه‌ی اثر کوچک است (حدود ۲ گزارش در Contact) و روی رده‌های بحرانی بهبودی دیده نشد</a:t>
            </a:r>
            <a:endParaRPr lang="fa-I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RQ2: wce بهترین بود و focal اثری نداشت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737360"/>
                <a:gridCol w="1828800"/>
                <a:gridCol w="1280160"/>
              </a:tblGrid>
              <a:tr h="329184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دقت کلی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بازیابی بحرانی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تغییر نسبت به 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Macro-F1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تابع زیان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0.914 ± 0.006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D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0.910 ± 0.001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 ± 0.001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514600"/>
            <a:ext cx="8046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wce: تنها بهبودی که به‌روشنی از نوسان بذرها بزرگ‌تر است؛ دقت کلی هم کم نشد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معامله‌ی wce: واژگونی حدود ۱ گزارش بیشتر از ۱۵، از دست رفتن کنترل ۳ گزارش بیشتر از ۱۲۴، در ازای حدود ۱٫۵ گزارش کمتر از ۲۵۰ در پرتکرارترین رده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cb: بهبود کوچک‌تر و مرزی؛ focal: در Macro-F1 بی‌اثر</a:t>
            </a:r>
            <a:endParaRPr lang="fa-I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Oversampling: دیدن بیشتر به‌جای جریمه‌ی بیشتر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fa-IR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572768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گزارش‌های رده‌های کوچک تکرار می‌شوند تا همه‌ی رده‌ها هم‌اندازه‌ی بزرگ‌ترین شوند</a:t>
            </a:r>
            <a:endParaRPr lang="fa-IR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rgbClr val="E36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+ BiLSTM + Attention</a:t>
            </a:r>
            <a:endParaRPr lang="fa-IR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انتخاب هر گزارش با احتمال ۱ تقسیم بر اندازه‌ی رده؛ طول epoch ثابت؛ با ce (نه wce)</a:t>
            </a:r>
            <a:endParaRPr lang="fa-IR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فقط داده‌ی آموزش بازنمونه‌گیری می‌شود؛ اعتبارسنجی و آزمون دست‌نخورده‌اند. نتایج پس از پایان اجرا اضافه می‌شود.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رده‌های نادر: ۱۵ نمونه برای قضاوت کم است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280160"/>
            <a:ext cx="301752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گزارش ۶٫۷ واحد بازیابی را جابه‌جا می‌کند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تفاوت ۱ تا ۲ گزارش بین مدل‌های BERT قابل اتکا نیست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قطعی: همه‌ی مدل‌های BERT از SVM (۱۰ از ۱۵) بهترند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برای ادعای قوی‌تر: بذر بیشتر و آزمون معناداری</a:t>
            </a:r>
            <a:endParaRPr lang="fa-I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Attention: مدل به واژه‌های درست نگاه می‌کند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80760" y="10515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172200" y="1124712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آتش‌سوزی</a:t>
            </a:r>
            <a:endParaRPr lang="fa-IR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490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· caught · smoke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24712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آب‌گرفتگی</a:t>
            </a:r>
            <a:endParaRPr lang="fa-IR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490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· water · taking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124712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به گل نشستن</a:t>
            </a:r>
            <a:endParaRPr lang="fa-I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490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· ran · aground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21488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2221992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واژگونی</a:t>
            </a:r>
            <a:endParaRPr lang="fa-I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587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capsized · feathering · lost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21488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221992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fa-I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587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· quayside · manoeuvring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1488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221992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از دست رفتن کنترل</a:t>
            </a:r>
            <a:endParaRPr lang="fa-IR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2587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· engine · fouled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CE7DB"/>
          </a:solidFill>
          <a:ln w="12700">
            <a:solidFill>
              <a:srgbClr val="FCE7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rgbClr val="E36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یافته‌ی غیرمنتظره در رده‌ی «آسیب تجهیزات»</a:t>
            </a:r>
            <a:endParaRPr lang="fa-IR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67328"/>
            <a:ext cx="7863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پروزن‌ترین واژه‌ها: solas، ladder، pilot، conform، regulations. بخش بزرگی از این رده گزارش‌های عدم انطباق پلکان راهنما با مقررات SOLAS است: زیرگروهی پنهان که attention آشکار کرد.</a:t>
            </a:r>
            <a:endParaRPr lang="fa-I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خطاهای باقی‌مانده: ابهام برچسب، نه ضعف مدل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80760" y="10972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علت ← پیامد</a:t>
            </a:r>
            <a:endParaRPr lang="fa-I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600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«propulsion failure and grounded»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2194560"/>
            <a:ext cx="23317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برچسب: به گل نشستن؛ پیش‌بینی: از دست رفتن کنترل. در گزارش مشابه برچسب برعکس است.</a:t>
            </a:r>
            <a:endParaRPr lang="fa-IR" sz="1300" dirty="0"/>
          </a:p>
        </p:txBody>
      </p:sp>
      <p:sp>
        <p:nvSpPr>
          <p:cNvPr id="7" name="Shape 5"/>
          <p:cNvSpPr/>
          <p:nvPr/>
        </p:nvSpPr>
        <p:spPr>
          <a:xfrm>
            <a:off x="3268980" y="10972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614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چند رویداد در یک گزارش</a:t>
            </a:r>
            <a:endParaRPr lang="fa-IR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06140" y="1600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«hit the lock side … crewmember fell overboard»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06140" y="2194560"/>
            <a:ext cx="23317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برچسب: Contact؛ پیش‌بینی: آسیب به اشخاص. هر دو منطقی است.</a:t>
            </a:r>
            <a:endParaRPr lang="fa-IR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0972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واژگان تخصصی دریایی</a:t>
            </a:r>
            <a:endParaRPr lang="fa-IR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1600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«girting»، «allided»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194560"/>
            <a:ext cx="23317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برای BERT عمومی ناآشنا؛ attention واژه‌ی درست را یافت ولی معنایش را نمی‌دانست.</a:t>
            </a:r>
            <a:endParaRPr lang="fa-IR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نتیجه: سقف حدود ۰٫۹۱ از برچسب تک‌کلاسه برای گزارش‌های چندرویدادی می‌آید؛ برای همین TF-IDF به BERT نزدیک است و لایه‌های اضافه کمک کمی می‌کنند.</a:t>
            </a:r>
            <a:endParaRPr lang="fa-I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مقاله‌ی مرجع: سه نکته‌ی روش‌شناختی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931920" y="1143000"/>
            <a:ext cx="47548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مدل‌ها با dropout، منظم‌سازی، آستانه‌ی گرادیان و تابع فعال‌سازی متفاوت مقایسه شده‌اند (جدول ۹)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یک اجرا، بدون بذر یا آزمون معناداری؛ بدون خط مبنای کلاسیک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 جدول ۳ خود مقاله، تغییر هایپرپارامترها دقت را ۲٫۳ واحد جابه‌جا می‌کند؛ بیشتر از بهبود ادعاشده‌ی BiLSTM (۱٫۱ واحد)</a:t>
            </a:r>
            <a:endParaRPr lang="fa-IR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CE7DB"/>
          </a:solidFill>
          <a:ln w="12700">
            <a:solidFill>
              <a:srgbClr val="FCE7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500" b="1" dirty="0">
                <a:solidFill>
                  <a:srgbClr val="E36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 پژوهش حاضر</a:t>
            </a:r>
            <a:endParaRPr lang="fa-IR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+0.004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6888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fa-IR" alt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اثر BiLSTM بر Macro-F1 با تنظیمات یکسان و ۲ بذر: در حد نوسان</a:t>
            </a:r>
            <a:endParaRPr lang="fa-I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توجه: وظیفه‌ی مقاله‌ی مرجع «علت حادثه» (۳۲ رده) است و وظیفه‌ی ما «نوع رویداد» (۹ رده)؛ اعداد مستقیماً قابل مقایسه نیستند.</a:t>
            </a:r>
            <a:endParaRPr lang="fa-I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محدودیت‌ها و گام‌های بعدی</a:t>
            </a:r>
            <a:endParaRPr lang="fa-IR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rgbClr val="7F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محدودیت‌ها</a:t>
            </a:r>
            <a:endParaRPr lang="fa-IR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554480"/>
            <a:ext cx="40233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فقط ۲ بذر؛ بدون آزمون معناداری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۱۵ نمونه‌ی واژگونی در آزمون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بهترین epoch در 9 از 12 اجرا همان epoch آخر بود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 و β تنظیم نشدند</a:t>
            </a:r>
            <a:endParaRPr lang="fa-IR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گام‌های بعدی</a:t>
            </a:r>
            <a:endParaRPr lang="fa-IR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40233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بذر سوم و bootstrap جفت‌شده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آموزش طولانی‌تر (۸ epoch)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RoBERTa / DeBERTa و مدل دامنه‌ی دریایی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مقایسه با LLM (zero-shot)</a:t>
            </a:r>
            <a:endParaRPr lang="fa-IR" sz="1400" dirty="0"/>
          </a:p>
          <a:p>
            <a:pPr algn="r" marL="177800" indent="-177800">
              <a:spcAft>
                <a:spcPts val="600"/>
              </a:spcAft>
              <a:buSzPct val="100000"/>
              <a:buChar char="•"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دسته‌بندی چندبرچسبی برای علت و پیامد</a:t>
            </a:r>
            <a:endParaRPr lang="fa-I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MAIB incident classification - progress report</dc:title>
  <dc:subject>PptxGenJS Presentation</dc:subject>
  <dc:creator>PptxGenJS</dc:creator>
  <cp:lastModifiedBy>PptxGenJS</cp:lastModifiedBy>
  <cp:revision>1</cp:revision>
  <dcterms:created xsi:type="dcterms:W3CDTF">2026-10-10T18:08:47Z</dcterms:created>
  <dcterms:modified xsi:type="dcterms:W3CDTF">2026-10-10T18:08:47Z</dcterms:modified>
</cp:coreProperties>
</file>